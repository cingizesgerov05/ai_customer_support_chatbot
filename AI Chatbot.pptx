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Montserrat Ultra-Bold" charset="1" panose="00000900000000000000"/>
      <p:regular r:id="rId17"/>
    </p:embeddedFont>
    <p:embeddedFont>
      <p:font typeface="Montserrat" charset="1" panose="00000500000000000000"/>
      <p:regular r:id="rId18"/>
    </p:embeddedFont>
    <p:embeddedFont>
      <p:font typeface="Montserrat Bold" charset="1" panose="000008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7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807169" y="3021597"/>
            <a:ext cx="12673662" cy="5148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072"/>
              </a:lnSpc>
            </a:pPr>
            <a:r>
              <a:rPr lang="en-US" b="true" sz="23840" spc="-2384">
                <a:solidFill>
                  <a:srgbClr val="1E1E1E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AI Chatbot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6279506" y="1074087"/>
            <a:ext cx="979794" cy="463175"/>
          </a:xfrm>
          <a:custGeom>
            <a:avLst/>
            <a:gdLst/>
            <a:ahLst/>
            <a:cxnLst/>
            <a:rect r="r" b="b" t="t" l="l"/>
            <a:pathLst>
              <a:path h="463175" w="979794">
                <a:moveTo>
                  <a:pt x="0" y="0"/>
                </a:moveTo>
                <a:lnTo>
                  <a:pt x="979794" y="0"/>
                </a:lnTo>
                <a:lnTo>
                  <a:pt x="979794" y="463175"/>
                </a:lnTo>
                <a:lnTo>
                  <a:pt x="0" y="4631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2626208" y="9286875"/>
            <a:ext cx="4918842" cy="496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06"/>
              </a:lnSpc>
            </a:pPr>
            <a:r>
              <a:rPr lang="en-US" sz="1906" spc="-38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Bakı Mühəndislik Universiteti</a:t>
            </a:r>
          </a:p>
          <a:p>
            <a:pPr algn="ctr">
              <a:lnSpc>
                <a:spcPts val="1906"/>
              </a:lnSpc>
            </a:pPr>
            <a:r>
              <a:rPr lang="en-US" sz="1906" spc="-38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İnformasiya və komputer texnologiyaları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076325"/>
            <a:ext cx="4309525" cy="262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b="true" sz="2099" spc="-125">
                <a:solidFill>
                  <a:srgbClr val="1E1E1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Customer services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87873" y="9286875"/>
            <a:ext cx="4918842" cy="258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06"/>
              </a:lnSpc>
            </a:pPr>
            <a:r>
              <a:rPr lang="en-US" sz="1906" spc="-38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İnformasiya Texnologiyaları (1162a1)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E8E7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60872" y="1183931"/>
            <a:ext cx="14698464" cy="2059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80"/>
              </a:lnSpc>
            </a:pPr>
            <a:r>
              <a:rPr lang="en-US" sz="9600" spc="-412" b="true">
                <a:solidFill>
                  <a:srgbClr val="1E1E1E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Problemin Təhlili və Biznes Mühiti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3298296"/>
            <a:ext cx="16393592" cy="6773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4"/>
              </a:lnSpc>
            </a:pPr>
          </a:p>
          <a:p>
            <a:pPr algn="l" marL="551693" indent="-275847" lvl="1">
              <a:lnSpc>
                <a:spcPts val="3884"/>
              </a:lnSpc>
              <a:buFont typeface="Arial"/>
              <a:buChar char="•"/>
            </a:pPr>
            <a:r>
              <a:rPr lang="en-US" sz="2555" spc="-51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Tədqiqat Oby</a:t>
            </a:r>
            <a:r>
              <a:rPr lang="en-US" sz="2555" spc="-51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ekti:</a:t>
            </a:r>
          </a:p>
          <a:p>
            <a:pPr algn="l" marL="1103386" indent="-367795" lvl="2">
              <a:lnSpc>
                <a:spcPts val="3884"/>
              </a:lnSpc>
              <a:buFont typeface="Arial"/>
              <a:buChar char="⚬"/>
            </a:pPr>
            <a:r>
              <a:rPr lang="en-US" sz="2555" spc="-51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Təbii Dilin Emalı (NLP) texnologiyalarına əsaslanan "İnsan-Maşın Dialoq Sistemləri".</a:t>
            </a:r>
          </a:p>
          <a:p>
            <a:pPr algn="l" marL="1103386" indent="-367795" lvl="2">
              <a:lnSpc>
                <a:spcPts val="3884"/>
              </a:lnSpc>
              <a:buFont typeface="Arial"/>
              <a:buChar char="⚬"/>
            </a:pPr>
            <a:r>
              <a:rPr lang="en-US" sz="2555" spc="-51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Müştəri məmnuniyyətini artırmaq üçün avtomatlaşdırılmış mətn analizi və cavablandırma mexanizmləri.</a:t>
            </a:r>
          </a:p>
          <a:p>
            <a:pPr algn="l" marL="551693" indent="-275847" lvl="1">
              <a:lnSpc>
                <a:spcPts val="3884"/>
              </a:lnSpc>
              <a:buFont typeface="Arial"/>
              <a:buChar char="•"/>
            </a:pPr>
            <a:r>
              <a:rPr lang="en-US" sz="2555" spc="-51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Mövcud Problem:</a:t>
            </a:r>
          </a:p>
          <a:p>
            <a:pPr algn="l" marL="1103386" indent="-367795" lvl="2">
              <a:lnSpc>
                <a:spcPts val="3884"/>
              </a:lnSpc>
              <a:buFont typeface="Arial"/>
              <a:buChar char="⚬"/>
            </a:pPr>
            <a:r>
              <a:rPr lang="en-US" sz="2555" spc="-51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Ənənəvi müştəri xidmətlərində yaranan növbələr və gecikmələr.</a:t>
            </a:r>
          </a:p>
          <a:p>
            <a:pPr algn="l" marL="1103386" indent="-367795" lvl="2">
              <a:lnSpc>
                <a:spcPts val="3884"/>
              </a:lnSpc>
              <a:buFont typeface="Arial"/>
              <a:buChar char="⚬"/>
            </a:pPr>
            <a:r>
              <a:rPr lang="en-US" sz="2555" spc="-51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Operatorların təkrarlanan sualları (qiymət, çatdırılma, ünvan) cavablandırmaq üçün vaxt itkisi.</a:t>
            </a:r>
          </a:p>
          <a:p>
            <a:pPr algn="l" marL="1103386" indent="-367795" lvl="2">
              <a:lnSpc>
                <a:spcPts val="3884"/>
              </a:lnSpc>
              <a:buFont typeface="Arial"/>
              <a:buChar char="⚬"/>
            </a:pPr>
            <a:r>
              <a:rPr lang="en-US" sz="2555" spc="-51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İnsan resursunun 7/24 fəaliyyət göstərməsinin maliyyə çətinliyi.</a:t>
            </a:r>
          </a:p>
          <a:p>
            <a:pPr algn="l" marL="551693" indent="-275847" lvl="1">
              <a:lnSpc>
                <a:spcPts val="3884"/>
              </a:lnSpc>
              <a:buFont typeface="Arial"/>
              <a:buChar char="•"/>
            </a:pPr>
            <a:r>
              <a:rPr lang="en-US" sz="2555" spc="-51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Biznes Tərəfdaşlar (Hədəf Kütləsi):</a:t>
            </a:r>
          </a:p>
          <a:p>
            <a:pPr algn="l" marL="1103386" indent="-367795" lvl="2">
              <a:lnSpc>
                <a:spcPts val="3884"/>
              </a:lnSpc>
              <a:buFont typeface="Arial"/>
              <a:buChar char="⚬"/>
            </a:pPr>
            <a:r>
              <a:rPr lang="en-US" sz="2555" spc="-51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E-ticarət Platformaları: Satış prosesini sürətləndirmək istəyən onlayn mağazalar.</a:t>
            </a:r>
          </a:p>
          <a:p>
            <a:pPr algn="l" marL="1103386" indent="-367795" lvl="2">
              <a:lnSpc>
                <a:spcPts val="3884"/>
              </a:lnSpc>
              <a:buFont typeface="Arial"/>
              <a:buChar char="⚬"/>
            </a:pPr>
            <a:r>
              <a:rPr lang="en-US" sz="2555" spc="-51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Retail və Pərakəndə Satış: Məhsul kataloqu və stok barədə məlumat verən şirkətlər.</a:t>
            </a:r>
          </a:p>
          <a:p>
            <a:pPr algn="l" marL="1103386" indent="-367795" lvl="2">
              <a:lnSpc>
                <a:spcPts val="3884"/>
              </a:lnSpc>
              <a:buFont typeface="Arial"/>
              <a:buChar char="⚬"/>
            </a:pPr>
            <a:r>
              <a:rPr lang="en-US" sz="2555" spc="-51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Logistika Şirkətləri: Çatdırılma statusu sorğularını avtomatlaşdıran kuryer xidmətləri.</a:t>
            </a:r>
          </a:p>
          <a:p>
            <a:pPr algn="l">
              <a:lnSpc>
                <a:spcPts val="3884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E8E7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60872" y="916088"/>
            <a:ext cx="15341402" cy="2433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12"/>
              </a:lnSpc>
            </a:pPr>
            <a:r>
              <a:rPr lang="en-US" sz="9600" spc="-451" b="true">
                <a:solidFill>
                  <a:srgbClr val="1E1E1E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Verilənlər Bazası (Dataset) və Emal Prosesi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976760" y="3467365"/>
            <a:ext cx="13982576" cy="6384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27"/>
              </a:lnSpc>
            </a:pPr>
          </a:p>
          <a:p>
            <a:pPr algn="just" marL="508514" indent="-254257" lvl="1">
              <a:lnSpc>
                <a:spcPts val="3627"/>
              </a:lnSpc>
              <a:buFont typeface="Arial"/>
              <a:buChar char="•"/>
            </a:pPr>
            <a:r>
              <a:rPr lang="en-US" sz="2355" spc="-47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Datanın Mənbəyi:</a:t>
            </a:r>
          </a:p>
          <a:p>
            <a:pPr algn="just" marL="1017028" indent="-339009" lvl="2">
              <a:lnSpc>
                <a:spcPts val="3627"/>
              </a:lnSpc>
              <a:buFont typeface="Arial"/>
              <a:buChar char="⚬"/>
            </a:pPr>
            <a:r>
              <a:rPr lang="en-US" sz="2355" spc="-47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Layihə üçün xüsusi hazırlanmış "Sintetik İntent Bazalı Dataset".</a:t>
            </a:r>
          </a:p>
          <a:p>
            <a:pPr algn="just" marL="1017028" indent="-339009" lvl="2">
              <a:lnSpc>
                <a:spcPts val="3627"/>
              </a:lnSpc>
              <a:buFont typeface="Arial"/>
              <a:buChar char="⚬"/>
            </a:pPr>
            <a:r>
              <a:rPr lang="en-US" sz="2355" spc="-47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Mənbə: backend.py daxilində konfiqurasiya edilmiş JSON strukturlu lüğət (Dictionary).</a:t>
            </a:r>
          </a:p>
          <a:p>
            <a:pPr algn="just" marL="508514" indent="-254257" lvl="1">
              <a:lnSpc>
                <a:spcPts val="3627"/>
              </a:lnSpc>
              <a:buFont typeface="Arial"/>
              <a:buChar char="•"/>
            </a:pPr>
            <a:r>
              <a:rPr lang="en-US" sz="2355" spc="-47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Datanın Strukturu:</a:t>
            </a:r>
          </a:p>
          <a:p>
            <a:pPr algn="just" marL="1017028" indent="-339009" lvl="2">
              <a:lnSpc>
                <a:spcPts val="3627"/>
              </a:lnSpc>
              <a:buFont typeface="Arial"/>
              <a:buChar char="⚬"/>
            </a:pPr>
            <a:r>
              <a:rPr lang="en-US" sz="2355" spc="-47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Kateqoriyalar (Intents): 12 əsas kateqoriya (Salamlama, Qiymət sorğusu, Məhsul məlumatı, Çatdırılma, Qaytarma, Ödəniş üsulları və s.).</a:t>
            </a:r>
          </a:p>
          <a:p>
            <a:pPr algn="just" marL="1017028" indent="-339009" lvl="2">
              <a:lnSpc>
                <a:spcPts val="3627"/>
              </a:lnSpc>
              <a:buFont typeface="Arial"/>
              <a:buChar char="⚬"/>
            </a:pPr>
            <a:r>
              <a:rPr lang="en-US" sz="2355" spc="-47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Nümunələr (Patterns): Hər kateqoriya üçün istifadəçi sualları.</a:t>
            </a:r>
          </a:p>
          <a:p>
            <a:pPr algn="just" marL="1017028" indent="-339009" lvl="2">
              <a:lnSpc>
                <a:spcPts val="3627"/>
              </a:lnSpc>
              <a:buFont typeface="Arial"/>
              <a:buChar char="⚬"/>
            </a:pPr>
            <a:r>
              <a:rPr lang="en-US" sz="2355" spc="-47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Cavablar (Responses): Sistem tərəfindən veriləcək pre-defined cavablar.</a:t>
            </a:r>
          </a:p>
          <a:p>
            <a:pPr algn="just" marL="508514" indent="-254257" lvl="1">
              <a:lnSpc>
                <a:spcPts val="3627"/>
              </a:lnSpc>
              <a:buFont typeface="Arial"/>
              <a:buChar char="•"/>
            </a:pPr>
            <a:r>
              <a:rPr lang="en-US" sz="2355" spc="-47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Data Emalı və Zənginləşdirilməsi:</a:t>
            </a:r>
          </a:p>
          <a:p>
            <a:pPr algn="just" marL="1017028" indent="-339009" lvl="2">
              <a:lnSpc>
                <a:spcPts val="3627"/>
              </a:lnSpc>
              <a:buFont typeface="Arial"/>
              <a:buChar char="⚬"/>
            </a:pPr>
            <a:r>
              <a:rPr lang="en-US" sz="2355" spc="-47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Data Augmentation (Artırma): Kod daxilində sinonimlərin əvəzlənməsi metodu ilə (məsələn: "qiymət" -&gt; "məbləğ", "salam" -&gt; "hey") verilənlər bazası süni şəkildə artırılıb.</a:t>
            </a:r>
          </a:p>
          <a:p>
            <a:pPr algn="just" marL="1017028" indent="-339009" lvl="2">
              <a:lnSpc>
                <a:spcPts val="3627"/>
              </a:lnSpc>
              <a:buFont typeface="Arial"/>
              <a:buChar char="⚬"/>
            </a:pPr>
            <a:r>
              <a:rPr lang="en-US" sz="2355" spc="-47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Yüklənmə: PyTorch Dataset sinfi vasitəsilə təlim üçün hazırlanır.</a:t>
            </a:r>
          </a:p>
          <a:p>
            <a:pPr algn="just">
              <a:lnSpc>
                <a:spcPts val="3627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E8E7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85825" y="698608"/>
            <a:ext cx="15341402" cy="1703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96"/>
              </a:lnSpc>
            </a:pPr>
            <a:r>
              <a:rPr lang="en-US" sz="6800" spc="-319" b="true">
                <a:solidFill>
                  <a:srgbClr val="1E1E1E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Əsas Texnologiyalar (Technology Stack)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84771" y="2760067"/>
            <a:ext cx="17079193" cy="75269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19"/>
              </a:lnSpc>
            </a:pPr>
            <a:r>
              <a:rPr lang="en-US" b="true" sz="2155" spc="-43">
                <a:solidFill>
                  <a:srgbClr val="1E1E1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A. Python</a:t>
            </a:r>
            <a:r>
              <a:rPr lang="en-US" sz="2155" spc="-43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 🐍</a:t>
            </a:r>
          </a:p>
          <a:p>
            <a:pPr algn="just" marL="465335" indent="-232668" lvl="1">
              <a:lnSpc>
                <a:spcPts val="3319"/>
              </a:lnSpc>
              <a:buFont typeface="Arial"/>
              <a:buChar char="•"/>
            </a:pPr>
            <a:r>
              <a:rPr lang="en-US" sz="2155" spc="-43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Nədir? </a:t>
            </a:r>
            <a:r>
              <a:rPr lang="en-US" sz="2155" spc="-43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Dünyanın ən populyar proqramlaşdırma dili.</a:t>
            </a:r>
          </a:p>
          <a:p>
            <a:pPr algn="just" marL="465335" indent="-232668" lvl="1">
              <a:lnSpc>
                <a:spcPts val="3319"/>
              </a:lnSpc>
              <a:buFont typeface="Arial"/>
              <a:buChar char="•"/>
            </a:pPr>
            <a:r>
              <a:rPr lang="en-US" sz="2155" spc="-43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Bu l</a:t>
            </a:r>
            <a:r>
              <a:rPr lang="en-US" sz="2155" spc="-43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ayihədə rolu: Bütün sistem (backend, təlim, frontend) Python üzərində qurulub. Sadəliyi və güclü kitabxanaları olduğu üçün seçilib.</a:t>
            </a:r>
          </a:p>
          <a:p>
            <a:pPr algn="just">
              <a:lnSpc>
                <a:spcPts val="3319"/>
              </a:lnSpc>
            </a:pPr>
            <a:r>
              <a:rPr lang="en-US" b="true" sz="2155" spc="-43">
                <a:solidFill>
                  <a:srgbClr val="1E1E1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B. PyTorch (torch)</a:t>
            </a:r>
            <a:r>
              <a:rPr lang="en-US" sz="2155" spc="-43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 🔥</a:t>
            </a:r>
          </a:p>
          <a:p>
            <a:pPr algn="just" marL="465335" indent="-232668" lvl="1">
              <a:lnSpc>
                <a:spcPts val="3319"/>
              </a:lnSpc>
              <a:buFont typeface="Arial"/>
              <a:buChar char="•"/>
            </a:pPr>
            <a:r>
              <a:rPr lang="en-US" sz="2155" spc="-43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Nədir? F</a:t>
            </a:r>
            <a:r>
              <a:rPr lang="en-US" sz="2155" spc="-43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acebook (Meta) tərəfindən yaradılmış açıq mənbəli Dərin Öyrənmə (Deep Learning) kitabxanasıdır.</a:t>
            </a:r>
          </a:p>
          <a:p>
            <a:pPr algn="just" marL="465335" indent="-232668" lvl="1">
              <a:lnSpc>
                <a:spcPts val="3319"/>
              </a:lnSpc>
              <a:buFont typeface="Arial"/>
              <a:buChar char="•"/>
            </a:pPr>
            <a:r>
              <a:rPr lang="en-US" sz="2155" spc="-43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Bu layihədə rolu: Süni intellekt modelinin "beynini" qurmaq üçün istifadə olunub. Neyron şəbəkənin hesablamalarını aparır, qradientləri hesablayır və modeli öyrədir (backpropagation).</a:t>
            </a:r>
          </a:p>
          <a:p>
            <a:pPr algn="just">
              <a:lnSpc>
                <a:spcPts val="3319"/>
              </a:lnSpc>
            </a:pPr>
            <a:r>
              <a:rPr lang="en-US" b="true" sz="2155" spc="-43">
                <a:solidFill>
                  <a:srgbClr val="1E1E1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C. Transformers (Hugging Face)</a:t>
            </a:r>
            <a:r>
              <a:rPr lang="en-US" sz="2155" spc="-43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 🤗</a:t>
            </a:r>
          </a:p>
          <a:p>
            <a:pPr algn="just" marL="465335" indent="-232668" lvl="1">
              <a:lnSpc>
                <a:spcPts val="3319"/>
              </a:lnSpc>
              <a:buFont typeface="Arial"/>
              <a:buChar char="•"/>
            </a:pPr>
            <a:r>
              <a:rPr lang="en-US" sz="2155" spc="-43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Nədir? Müasir NLP (Təbii Dilin Emalı) modellərini özündə birləşdirən nəhəng kitabxanadır.</a:t>
            </a:r>
          </a:p>
          <a:p>
            <a:pPr algn="just" marL="465335" indent="-232668" lvl="1">
              <a:lnSpc>
                <a:spcPts val="3319"/>
              </a:lnSpc>
              <a:buFont typeface="Arial"/>
              <a:buChar char="•"/>
            </a:pPr>
            <a:r>
              <a:rPr lang="en-US" sz="2155" spc="-43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İstifadə olunan Model: BERT (Bidirectional Encoder Representations from Transformers).</a:t>
            </a:r>
          </a:p>
          <a:p>
            <a:pPr algn="just" marL="930670" indent="-310223" lvl="2">
              <a:lnSpc>
                <a:spcPts val="3319"/>
              </a:lnSpc>
              <a:buFont typeface="Arial"/>
              <a:buChar char="⚬"/>
            </a:pPr>
            <a:r>
              <a:rPr lang="en-US" sz="2155" spc="-43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Konkret olaraq: bert-base-multilingual-cased.</a:t>
            </a:r>
          </a:p>
          <a:p>
            <a:pPr algn="just" marL="465335" indent="-232668" lvl="1">
              <a:lnSpc>
                <a:spcPts val="3319"/>
              </a:lnSpc>
              <a:buFont typeface="Arial"/>
              <a:buChar char="•"/>
            </a:pPr>
            <a:r>
              <a:rPr lang="en-US" sz="2155" spc="-43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Bu layihədə rolu:</a:t>
            </a:r>
          </a:p>
          <a:p>
            <a:pPr algn="just" marL="930670" indent="-310223" lvl="2">
              <a:lnSpc>
                <a:spcPts val="3319"/>
              </a:lnSpc>
              <a:buFont typeface="Arial"/>
              <a:buChar char="⚬"/>
            </a:pPr>
            <a:r>
              <a:rPr lang="en-US" sz="2155" spc="-43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Tokeniz</a:t>
            </a:r>
            <a:r>
              <a:rPr lang="en-US" sz="2155" spc="-43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asiya: Cümlələri kompüterin başa düşəcəyi rəqəmlərə çevirir (Tokenization).</a:t>
            </a:r>
          </a:p>
          <a:p>
            <a:pPr algn="just" marL="930670" indent="-310223" lvl="2">
              <a:lnSpc>
                <a:spcPts val="3319"/>
              </a:lnSpc>
              <a:buFont typeface="Arial"/>
              <a:buChar char="⚬"/>
            </a:pPr>
            <a:r>
              <a:rPr lang="en-US" sz="2155" spc="-43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Konteksti Anlama: BERT cümləni sadəcə soldan-sağa yox, hər iki istiqamətdə oxuyur. Məsələn, "mağaza bağlıdır" cümləsində "bağlıdır" sözünün mənasını tam anlayır. Bu model Google tərəfindən milyonlarla mətn üzərində əvvəlcədən öyrədilib (Pre-trained), siz isə onu öz datanızla "Fine-tune" (incə tənzimləmə) edirsiniz.</a:t>
            </a:r>
          </a:p>
          <a:p>
            <a:pPr algn="just">
              <a:lnSpc>
                <a:spcPts val="3319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E8E7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48639"/>
            <a:ext cx="15341402" cy="1703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96"/>
              </a:lnSpc>
            </a:pPr>
            <a:r>
              <a:rPr lang="en-US" sz="6800" spc="-319" b="true">
                <a:solidFill>
                  <a:srgbClr val="1E1E1E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Əsas Texnologiyalar (Technology Stack)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04404" y="3669705"/>
            <a:ext cx="17079193" cy="5481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43"/>
              </a:lnSpc>
            </a:pPr>
            <a:r>
              <a:rPr lang="en-US" b="true" sz="2755" spc="-55">
                <a:solidFill>
                  <a:srgbClr val="1E1E1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D. Streamlit 👑</a:t>
            </a:r>
          </a:p>
          <a:p>
            <a:pPr algn="just" marL="594872" indent="-297436" lvl="1">
              <a:lnSpc>
                <a:spcPts val="4243"/>
              </a:lnSpc>
              <a:buFont typeface="Arial"/>
              <a:buChar char="•"/>
            </a:pPr>
            <a:r>
              <a:rPr lang="en-US" sz="2755" spc="-55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Nədir? Veril</a:t>
            </a:r>
            <a:r>
              <a:rPr lang="en-US" sz="2755" spc="-55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ənlər elmi (Data Science)</a:t>
            </a:r>
            <a:r>
              <a:rPr lang="en-US" sz="2755" spc="-55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 l</a:t>
            </a:r>
            <a:r>
              <a:rPr lang="en-US" sz="2755" spc="-55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ayihələri üçün sürətli veb-interfeys yaratmaq alətidir.</a:t>
            </a:r>
          </a:p>
          <a:p>
            <a:pPr algn="just" marL="594872" indent="-297436" lvl="1">
              <a:lnSpc>
                <a:spcPts val="4684"/>
              </a:lnSpc>
              <a:buFont typeface="Arial"/>
              <a:buChar char="•"/>
            </a:pPr>
            <a:r>
              <a:rPr lang="en-US" sz="2755" spc="-55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Bu layihədə rolu: app.py faylında gördüyünüz çat p</a:t>
            </a:r>
            <a:r>
              <a:rPr lang="en-US" sz="2755" spc="-55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ən</a:t>
            </a:r>
            <a:r>
              <a:rPr lang="en-US" sz="2755" spc="-55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cərəsini, düymələri və vizual dizaynı yaradır. HTML və CSS bilmədən peşəkar görünüşlü veb tətbiq yığmağa imkan verir.</a:t>
            </a:r>
          </a:p>
          <a:p>
            <a:pPr algn="just">
              <a:lnSpc>
                <a:spcPts val="4684"/>
              </a:lnSpc>
            </a:pPr>
            <a:r>
              <a:rPr lang="en-US" b="true" sz="2755" spc="-55">
                <a:solidFill>
                  <a:srgbClr val="1E1E1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E. Scikit-learn (sklearn) 📊</a:t>
            </a:r>
          </a:p>
          <a:p>
            <a:pPr algn="just" marL="594872" indent="-297436" lvl="1">
              <a:lnSpc>
                <a:spcPts val="4243"/>
              </a:lnSpc>
              <a:buFont typeface="Arial"/>
              <a:buChar char="•"/>
            </a:pPr>
            <a:r>
              <a:rPr lang="en-US" sz="2755" spc="-55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Nədir? Klassik maşın öyrənməsi kitabxanası.</a:t>
            </a:r>
          </a:p>
          <a:p>
            <a:pPr algn="just" marL="594872" indent="-297436" lvl="1">
              <a:lnSpc>
                <a:spcPts val="4243"/>
              </a:lnSpc>
              <a:buFont typeface="Arial"/>
              <a:buChar char="•"/>
            </a:pPr>
            <a:r>
              <a:rPr lang="en-US" sz="2755" spc="-55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Bu l</a:t>
            </a:r>
            <a:r>
              <a:rPr lang="en-US" sz="2755" spc="-55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ayihədə rolu: train_test_split funksiyası vasitəsilə əli</a:t>
            </a:r>
            <a:r>
              <a:rPr lang="en-US" sz="2755" spc="-55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nizd</a:t>
            </a:r>
            <a:r>
              <a:rPr lang="en-US" sz="2755" spc="-55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əki datanı iki yerə bölür:</a:t>
            </a:r>
          </a:p>
          <a:p>
            <a:pPr algn="just" marL="1189744" indent="-396581" lvl="2">
              <a:lnSpc>
                <a:spcPts val="4243"/>
              </a:lnSpc>
              <a:buAutoNum type="alphaLcPeriod" startAt="1"/>
            </a:pPr>
            <a:r>
              <a:rPr lang="en-US" sz="2755" spc="-55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Təlim (Train): Modelin öyrənməsi üçün (85%).</a:t>
            </a:r>
          </a:p>
          <a:p>
            <a:pPr algn="just" marL="1189744" indent="-396581" lvl="2">
              <a:lnSpc>
                <a:spcPts val="4243"/>
              </a:lnSpc>
              <a:buAutoNum type="alphaLcPeriod" startAt="1"/>
            </a:pPr>
            <a:r>
              <a:rPr lang="en-US" sz="2755" spc="-55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Yoxlama (Validation): Modelin özünü sınaması üçün (15%).</a:t>
            </a:r>
          </a:p>
          <a:p>
            <a:pPr algn="just">
              <a:lnSpc>
                <a:spcPts val="4243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7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524574" y="3499708"/>
            <a:ext cx="8763426" cy="4929427"/>
          </a:xfrm>
          <a:custGeom>
            <a:avLst/>
            <a:gdLst/>
            <a:ahLst/>
            <a:cxnLst/>
            <a:rect r="r" b="b" t="t" l="l"/>
            <a:pathLst>
              <a:path h="4929427" w="8763426">
                <a:moveTo>
                  <a:pt x="0" y="0"/>
                </a:moveTo>
                <a:lnTo>
                  <a:pt x="8763426" y="0"/>
                </a:lnTo>
                <a:lnTo>
                  <a:pt x="8763426" y="4929427"/>
                </a:lnTo>
                <a:lnTo>
                  <a:pt x="0" y="49294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85825" y="1112946"/>
            <a:ext cx="15341402" cy="874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96"/>
              </a:lnSpc>
            </a:pPr>
            <a:r>
              <a:rPr lang="en-US" sz="6800" spc="-319" b="true">
                <a:solidFill>
                  <a:srgbClr val="1E1E1E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Kodun Məntiqi və Strukturu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94432" y="2649652"/>
            <a:ext cx="8649568" cy="6921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97"/>
              </a:lnSpc>
            </a:pPr>
            <a:r>
              <a:rPr lang="en-US" sz="2855" spc="-57" b="true">
                <a:solidFill>
                  <a:srgbClr val="1E1E1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backend.py   (Beyin və Yaddaş)</a:t>
            </a:r>
          </a:p>
          <a:p>
            <a:pPr algn="l">
              <a:lnSpc>
                <a:spcPts val="3319"/>
              </a:lnSpc>
            </a:pPr>
          </a:p>
          <a:p>
            <a:pPr algn="l" marL="486925" indent="-243462" lvl="1">
              <a:lnSpc>
                <a:spcPts val="4037"/>
              </a:lnSpc>
              <a:buFont typeface="Arial"/>
              <a:buChar char="•"/>
            </a:pPr>
            <a:r>
              <a:rPr lang="en-US" sz="2255" spc="-45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Da</a:t>
            </a:r>
            <a:r>
              <a:rPr lang="en-US" sz="2255" spc="-45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ta Augmentation: Az sayda cümləni çoxaltmaq üçün "sinonim dəyişdirmə" texnikasından istifadə edir (məs: "qiymət" sözünü "məbləğ" ilə əvəz edib yeni data yaradır).</a:t>
            </a:r>
          </a:p>
          <a:p>
            <a:pPr algn="l" marL="486925" indent="-243462" lvl="1">
              <a:lnSpc>
                <a:spcPts val="4037"/>
              </a:lnSpc>
              <a:buFont typeface="Arial"/>
              <a:buChar char="•"/>
            </a:pPr>
            <a:r>
              <a:rPr lang="en-US" sz="2255" spc="-45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Model Arxitekturası (BERTChatbot class): Hazır BERT modelinin üzəri</a:t>
            </a:r>
            <a:r>
              <a:rPr lang="en-US" sz="2255" spc="-45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nə öz</a:t>
            </a:r>
            <a:r>
              <a:rPr lang="en-US" sz="2255" spc="-45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 təbəqələrini (Dropout + Linear Layer) əlavə edir. Bu, modeli sadəcə dili bilən birindən, "sizin mağazanızı tanıyan" birinə çevirir.</a:t>
            </a:r>
          </a:p>
          <a:p>
            <a:pPr algn="l" marL="486925" indent="-243462" lvl="1">
              <a:lnSpc>
                <a:spcPts val="4037"/>
              </a:lnSpc>
              <a:buFont typeface="Arial"/>
              <a:buChar char="•"/>
            </a:pPr>
            <a:r>
              <a:rPr lang="en-US" sz="2255" spc="-45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Hibrid Məntiq (ChatbotInterface):</a:t>
            </a:r>
          </a:p>
          <a:p>
            <a:pPr algn="l" marL="973849" indent="-324616" lvl="2">
              <a:lnSpc>
                <a:spcPts val="4037"/>
              </a:lnSpc>
              <a:buFont typeface="Arial"/>
              <a:buChar char="⚬"/>
            </a:pPr>
            <a:r>
              <a:rPr lang="en-US" sz="2255" spc="-45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İstifadəçi yazanda əvvəlcə Açar söz (Keyword) axtarır (çox sürətlidir).</a:t>
            </a:r>
          </a:p>
          <a:p>
            <a:pPr algn="l" marL="973849" indent="-324616" lvl="2">
              <a:lnSpc>
                <a:spcPts val="4037"/>
              </a:lnSpc>
              <a:buFont typeface="Arial"/>
              <a:buChar char="⚬"/>
            </a:pPr>
            <a:r>
              <a:rPr lang="en-US" sz="2255" spc="-45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Tapmasa, BERT modelini işə salır (daha ağıllıdır).</a:t>
            </a:r>
          </a:p>
          <a:p>
            <a:pPr algn="l">
              <a:lnSpc>
                <a:spcPts val="3319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E8E7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85825" y="1112946"/>
            <a:ext cx="15341402" cy="874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96"/>
              </a:lnSpc>
            </a:pPr>
            <a:r>
              <a:rPr lang="en-US" sz="6800" spc="-319" b="true">
                <a:solidFill>
                  <a:srgbClr val="1E1E1E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Kodun Məntiqi və Strukturu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42690" y="3345790"/>
            <a:ext cx="7953052" cy="5912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05"/>
              </a:lnSpc>
            </a:pPr>
            <a:r>
              <a:rPr lang="en-US" sz="3055" spc="-61" b="true">
                <a:solidFill>
                  <a:srgbClr val="1E1E1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train.py   (Təlim prosesi)</a:t>
            </a:r>
          </a:p>
          <a:p>
            <a:pPr algn="l">
              <a:lnSpc>
                <a:spcPts val="3627"/>
              </a:lnSpc>
            </a:pPr>
          </a:p>
          <a:p>
            <a:pPr algn="l">
              <a:lnSpc>
                <a:spcPts val="4395"/>
              </a:lnSpc>
            </a:pPr>
            <a:r>
              <a:rPr lang="en-US" sz="2455" spc="-49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   B</a:t>
            </a:r>
            <a:r>
              <a:rPr lang="en-US" sz="2455" spc="-49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u fayl "müəllim" rolunu oynayır.</a:t>
            </a:r>
          </a:p>
          <a:p>
            <a:pPr algn="l" marL="530104" indent="-265052" lvl="1">
              <a:lnSpc>
                <a:spcPts val="4395"/>
              </a:lnSpc>
              <a:buFont typeface="Arial"/>
              <a:buChar char="•"/>
            </a:pPr>
            <a:r>
              <a:rPr lang="en-US" sz="2455" spc="-49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Datanı yükləyir.</a:t>
            </a:r>
          </a:p>
          <a:p>
            <a:pPr algn="l" marL="530104" indent="-265052" lvl="1">
              <a:lnSpc>
                <a:spcPts val="4395"/>
              </a:lnSpc>
              <a:buFont typeface="Arial"/>
              <a:buChar char="•"/>
            </a:pPr>
            <a:r>
              <a:rPr lang="en-US" sz="2455" spc="-49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Modeli 20 epoxa (dövr) ərzi</a:t>
            </a:r>
            <a:r>
              <a:rPr lang="en-US" sz="2455" spc="-49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ndə öy</a:t>
            </a:r>
            <a:r>
              <a:rPr lang="en-US" sz="2455" spc="-49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rədir.</a:t>
            </a:r>
          </a:p>
          <a:p>
            <a:pPr algn="l" marL="530104" indent="-265052" lvl="1">
              <a:lnSpc>
                <a:spcPts val="4395"/>
              </a:lnSpc>
              <a:buFont typeface="Arial"/>
              <a:buChar char="•"/>
            </a:pPr>
            <a:r>
              <a:rPr lang="en-US" sz="2455" spc="-49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Early Stopping: Əgər model 5 dəfə ard-arda inkişaf etməsə, təlimi saxlayır ki, "əzbərçilik" (overfitting) etməsin.</a:t>
            </a:r>
          </a:p>
          <a:p>
            <a:pPr algn="l" marL="530104" indent="-265052" lvl="1">
              <a:lnSpc>
                <a:spcPts val="4395"/>
              </a:lnSpc>
              <a:buFont typeface="Arial"/>
              <a:buChar char="•"/>
            </a:pPr>
            <a:r>
              <a:rPr lang="en-US" sz="2455" spc="-49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Ən yaxşı nəticəni best_chatbot_model.pth faylında yadda saxlayır.</a:t>
            </a:r>
          </a:p>
          <a:p>
            <a:pPr algn="l">
              <a:lnSpc>
                <a:spcPts val="3627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9492258" y="3345790"/>
            <a:ext cx="7953052" cy="4807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05"/>
              </a:lnSpc>
            </a:pPr>
            <a:r>
              <a:rPr lang="en-US" sz="3055" spc="-61" b="true">
                <a:solidFill>
                  <a:srgbClr val="1E1E1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app.py   (İstifadəçi interfeysi)</a:t>
            </a:r>
          </a:p>
          <a:p>
            <a:pPr algn="l">
              <a:lnSpc>
                <a:spcPts val="3627"/>
              </a:lnSpc>
            </a:pPr>
          </a:p>
          <a:p>
            <a:pPr algn="l">
              <a:lnSpc>
                <a:spcPts val="4395"/>
              </a:lnSpc>
            </a:pPr>
            <a:r>
              <a:rPr lang="en-US" sz="2455" spc="-49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   B</a:t>
            </a:r>
            <a:r>
              <a:rPr lang="en-US" sz="2455" spc="-49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u fayl istifadəçinin gördüyü hissədir.</a:t>
            </a:r>
          </a:p>
          <a:p>
            <a:pPr algn="l" marL="530104" indent="-265052" lvl="1">
              <a:lnSpc>
                <a:spcPts val="4395"/>
              </a:lnSpc>
              <a:buFont typeface="Arial"/>
              <a:buChar char="•"/>
            </a:pPr>
            <a:r>
              <a:rPr lang="en-US" sz="2455" spc="-49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Tə</a:t>
            </a:r>
            <a:r>
              <a:rPr lang="en-US" sz="2455" spc="-49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lim olunmuş modeli yaddaşdan oxuyur.</a:t>
            </a:r>
          </a:p>
          <a:p>
            <a:pPr algn="l" marL="530104" indent="-265052" lvl="1">
              <a:lnSpc>
                <a:spcPts val="4395"/>
              </a:lnSpc>
              <a:buFont typeface="Arial"/>
              <a:buChar char="•"/>
            </a:pPr>
            <a:r>
              <a:rPr lang="en-US" sz="2455" spc="-49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İstifadəçi</a:t>
            </a:r>
            <a:r>
              <a:rPr lang="en-US" sz="2455" spc="-49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dən mesajı </a:t>
            </a:r>
            <a:r>
              <a:rPr lang="en-US" sz="2455" spc="-49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alır, backend-ə göndərir və cavabı ekranda göstərir.</a:t>
            </a:r>
          </a:p>
          <a:p>
            <a:pPr algn="l" marL="530104" indent="-265052" lvl="1">
              <a:lnSpc>
                <a:spcPts val="4395"/>
              </a:lnSpc>
              <a:buFont typeface="Arial"/>
              <a:buChar char="•"/>
            </a:pPr>
            <a:r>
              <a:rPr lang="en-US" sz="2455" spc="-49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"Yazı effekti" (typing effect) kimi vizual elementlərlə istifadəçi təcrübəsini artırır.</a:t>
            </a:r>
          </a:p>
          <a:p>
            <a:pPr algn="l">
              <a:lnSpc>
                <a:spcPts val="3627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E8E7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52636" y="677605"/>
            <a:ext cx="16466543" cy="2333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14"/>
              </a:lnSpc>
            </a:pPr>
            <a:r>
              <a:rPr lang="en-US" sz="6200" spc="-179" b="true">
                <a:solidFill>
                  <a:srgbClr val="1E1E1E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Model Arxitekturası: BERT (Bidirectional Encoder Representations from Transformers)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28730" y="2935174"/>
            <a:ext cx="16219088" cy="7351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40"/>
              </a:lnSpc>
            </a:pPr>
          </a:p>
          <a:p>
            <a:pPr algn="just" marL="482324" indent="-241162" lvl="1">
              <a:lnSpc>
                <a:spcPts val="3440"/>
              </a:lnSpc>
              <a:buFont typeface="Arial"/>
              <a:buChar char="•"/>
            </a:pPr>
            <a:r>
              <a:rPr lang="en-US" sz="2234" spc="-44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Model</a:t>
            </a:r>
            <a:r>
              <a:rPr lang="en-US" sz="2234" spc="-44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in Seçimi:</a:t>
            </a:r>
          </a:p>
          <a:p>
            <a:pPr algn="just" marL="964647" indent="-321549" lvl="2">
              <a:lnSpc>
                <a:spcPts val="3440"/>
              </a:lnSpc>
              <a:buFont typeface="Arial"/>
              <a:buChar char="⚬"/>
            </a:pPr>
            <a:r>
              <a:rPr lang="en-US" sz="2234" spc="-44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İstifadə olunan baza model: bert-base-multilingual-cased (Google).</a:t>
            </a:r>
          </a:p>
          <a:p>
            <a:pPr algn="just" marL="964647" indent="-321549" lvl="2">
              <a:lnSpc>
                <a:spcPts val="3440"/>
              </a:lnSpc>
              <a:buFont typeface="Arial"/>
              <a:buChar char="⚬"/>
            </a:pPr>
            <a:r>
              <a:rPr lang="en-US" sz="2234" spc="-44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S</a:t>
            </a:r>
            <a:r>
              <a:rPr lang="en-US" sz="2234" spc="-44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əbəb: Azərbaycan dili daxil olmaqla çoxdilli dəstəyi və cümlənin kontekstini hər iki istiqamətdə (bidirectional) anlama qabiliyyəti.</a:t>
            </a:r>
          </a:p>
          <a:p>
            <a:pPr algn="just" marL="482324" indent="-241162" lvl="1">
              <a:lnSpc>
                <a:spcPts val="3440"/>
              </a:lnSpc>
              <a:buFont typeface="Arial"/>
              <a:buChar char="•"/>
            </a:pPr>
            <a:r>
              <a:rPr lang="en-US" sz="2234" spc="-44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Tex</a:t>
            </a:r>
            <a:r>
              <a:rPr lang="en-US" sz="2234" spc="-44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niki Arxitektura (Kod əsasında):</a:t>
            </a:r>
          </a:p>
          <a:p>
            <a:pPr algn="just" marL="964647" indent="-321549" lvl="2">
              <a:lnSpc>
                <a:spcPts val="3440"/>
              </a:lnSpc>
              <a:buFont typeface="Arial"/>
              <a:buChar char="⚬"/>
            </a:pPr>
            <a:r>
              <a:rPr lang="en-US" sz="2234" spc="-44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Giriş Təbəqəsi: Tokenizasiya (Input IDs, Attention Mask). Maksimum uzunluq: 64 token.</a:t>
            </a:r>
          </a:p>
          <a:p>
            <a:pPr algn="just" marL="964647" indent="-321549" lvl="2">
              <a:lnSpc>
                <a:spcPts val="3440"/>
              </a:lnSpc>
              <a:buFont typeface="Arial"/>
              <a:buChar char="⚬"/>
            </a:pPr>
            <a:r>
              <a:rPr lang="en-US" sz="2234" spc="-44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BERT Gövdəsi: 768 ölçülü vektor çıxışı verən 12 qatlı Transformer Encoder.</a:t>
            </a:r>
          </a:p>
          <a:p>
            <a:pPr algn="just" marL="964647" indent="-321549" lvl="2">
              <a:lnSpc>
                <a:spcPts val="3440"/>
              </a:lnSpc>
              <a:buFont typeface="Arial"/>
              <a:buChar char="⚬"/>
            </a:pPr>
            <a:r>
              <a:rPr lang="en-US" sz="2234" spc="-44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Kl</a:t>
            </a:r>
            <a:r>
              <a:rPr lang="en-US" sz="2234" spc="-44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assifikator (Custom Head):</a:t>
            </a:r>
          </a:p>
          <a:p>
            <a:pPr algn="just" marL="1446971" indent="-361743" lvl="3">
              <a:lnSpc>
                <a:spcPts val="3440"/>
              </a:lnSpc>
              <a:buFont typeface="Arial"/>
              <a:buChar char="￭"/>
            </a:pPr>
            <a:r>
              <a:rPr lang="en-US" sz="2234" spc="-44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Dropout (0.3) – Overfitting-in qarşısını almaq üçün.</a:t>
            </a:r>
          </a:p>
          <a:p>
            <a:pPr algn="just" marL="1446971" indent="-361743" lvl="3">
              <a:lnSpc>
                <a:spcPts val="3440"/>
              </a:lnSpc>
              <a:buFont typeface="Arial"/>
              <a:buChar char="￭"/>
            </a:pPr>
            <a:r>
              <a:rPr lang="en-US" sz="2234" spc="-44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Linear Layer (768 -&gt; 256) + ReLU aktivasiya funksiyası.</a:t>
            </a:r>
          </a:p>
          <a:p>
            <a:pPr algn="just" marL="1446971" indent="-361743" lvl="3">
              <a:lnSpc>
                <a:spcPts val="3440"/>
              </a:lnSpc>
              <a:buFont typeface="Arial"/>
              <a:buChar char="￭"/>
            </a:pPr>
            <a:r>
              <a:rPr lang="en-US" sz="2234" spc="-44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Çıxış Layihəsi (256 -&gt; Niyyət Sayı).</a:t>
            </a:r>
          </a:p>
          <a:p>
            <a:pPr algn="just" marL="482324" indent="-241162" lvl="1">
              <a:lnSpc>
                <a:spcPts val="3440"/>
              </a:lnSpc>
              <a:buFont typeface="Arial"/>
              <a:buChar char="•"/>
            </a:pPr>
            <a:r>
              <a:rPr lang="en-US" sz="2234" spc="-44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Təlim Strategiyası:</a:t>
            </a:r>
          </a:p>
          <a:p>
            <a:pPr algn="just" marL="964647" indent="-321549" lvl="2">
              <a:lnSpc>
                <a:spcPts val="3440"/>
              </a:lnSpc>
              <a:buFont typeface="Arial"/>
              <a:buChar char="⚬"/>
            </a:pPr>
            <a:r>
              <a:rPr lang="en-US" sz="2234" spc="-44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Optimizer: AdamW (Adaptiv öyrənmə sürəti).</a:t>
            </a:r>
          </a:p>
          <a:p>
            <a:pPr algn="just" marL="964647" indent="-321549" lvl="2">
              <a:lnSpc>
                <a:spcPts val="3440"/>
              </a:lnSpc>
              <a:buFont typeface="Arial"/>
              <a:buChar char="⚬"/>
            </a:pPr>
            <a:r>
              <a:rPr lang="en-US" sz="2234" spc="-44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Loss Function: CrossEntropyLoss (Çox sinifli təsnifat üçün).</a:t>
            </a:r>
          </a:p>
          <a:p>
            <a:pPr algn="just" marL="964647" indent="-321549" lvl="2">
              <a:lnSpc>
                <a:spcPts val="3440"/>
              </a:lnSpc>
              <a:buFont typeface="Arial"/>
              <a:buChar char="⚬"/>
            </a:pPr>
            <a:r>
              <a:rPr lang="en-US" sz="2234" spc="-44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Scheduler: Linear Schedule with Warmup (Tədrici öyrənmə).</a:t>
            </a:r>
          </a:p>
          <a:p>
            <a:pPr algn="just">
              <a:lnSpc>
                <a:spcPts val="3440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E8E7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52636" y="1439605"/>
            <a:ext cx="16466543" cy="809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14"/>
              </a:lnSpc>
            </a:pPr>
            <a:r>
              <a:rPr lang="en-US" sz="6200" spc="-179" b="true">
                <a:solidFill>
                  <a:srgbClr val="1E1E1E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Alternativ Modellərin Müqayisəli Analizi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28730" y="2935174"/>
            <a:ext cx="16219088" cy="6050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40"/>
              </a:lnSpc>
            </a:pPr>
          </a:p>
          <a:p>
            <a:pPr algn="just" marL="482324" indent="-241162" lvl="1">
              <a:lnSpc>
                <a:spcPts val="3440"/>
              </a:lnSpc>
              <a:buFont typeface="Arial"/>
              <a:buChar char="•"/>
            </a:pPr>
            <a:r>
              <a:rPr lang="en-US" sz="2234" spc="-44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1. S</a:t>
            </a:r>
            <a:r>
              <a:rPr lang="en-US" sz="2234" spc="-44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adə Qayda Əsaslı Sistemlər (Rule-Based):</a:t>
            </a:r>
          </a:p>
          <a:p>
            <a:pPr algn="just" marL="964647" indent="-321549" lvl="2">
              <a:lnSpc>
                <a:spcPts val="3440"/>
              </a:lnSpc>
              <a:buFont typeface="Arial"/>
              <a:buChar char="⚬"/>
            </a:pPr>
            <a:r>
              <a:rPr lang="en-US" sz="2234" spc="-44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İş prinsipi: If-else məntiqi və sadə söz axtarışı.</a:t>
            </a:r>
          </a:p>
          <a:p>
            <a:pPr algn="just" marL="964647" indent="-321549" lvl="2">
              <a:lnSpc>
                <a:spcPts val="3440"/>
              </a:lnSpc>
              <a:buFont typeface="Arial"/>
              <a:buChar char="⚬"/>
            </a:pPr>
            <a:r>
              <a:rPr lang="en-US" sz="2234" spc="-44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Çatışmazlığı: İmla xətalarını və cümlənin mənasını başa düşmür. Yalnız dəqiq uyğunluq tələb edir. (Qeyd: Bizim layihədə bu metod yalnız köməkçi vasitə kimi fuzzy_match ilə istifadə olunub).</a:t>
            </a:r>
          </a:p>
          <a:p>
            <a:pPr algn="just" marL="482324" indent="-241162" lvl="1">
              <a:lnSpc>
                <a:spcPts val="3440"/>
              </a:lnSpc>
              <a:buFont typeface="Arial"/>
              <a:buChar char="•"/>
            </a:pPr>
            <a:r>
              <a:rPr lang="en-US" sz="2234" spc="-44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2. RNN və LSTM</a:t>
            </a:r>
            <a:r>
              <a:rPr lang="en-US" sz="2234" spc="-44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 (Recurrent Neural Networks):</a:t>
            </a:r>
          </a:p>
          <a:p>
            <a:pPr algn="just" marL="964647" indent="-321549" lvl="2">
              <a:lnSpc>
                <a:spcPts val="3440"/>
              </a:lnSpc>
              <a:buFont typeface="Arial"/>
              <a:buChar char="⚬"/>
            </a:pPr>
            <a:r>
              <a:rPr lang="en-US" sz="2234" spc="-44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İş p</a:t>
            </a:r>
            <a:r>
              <a:rPr lang="en-US" sz="2234" spc="-44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rinsipi: Sözləri ardıcıl emal edir.</a:t>
            </a:r>
          </a:p>
          <a:p>
            <a:pPr algn="just" marL="964647" indent="-321549" lvl="2">
              <a:lnSpc>
                <a:spcPts val="3440"/>
              </a:lnSpc>
              <a:buFont typeface="Arial"/>
              <a:buChar char="⚬"/>
            </a:pPr>
            <a:r>
              <a:rPr lang="en-US" sz="2234" spc="-44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Çatışmazlığı: Uzun cümlələrdə konteksti "unudur" və təlim prosesi BERT-ə nəzərən daha yavaşdır. Paralel emal apara bilmir.</a:t>
            </a:r>
          </a:p>
          <a:p>
            <a:pPr algn="just" marL="482324" indent="-241162" lvl="1">
              <a:lnSpc>
                <a:spcPts val="3440"/>
              </a:lnSpc>
              <a:buFont typeface="Arial"/>
              <a:buChar char="•"/>
            </a:pPr>
            <a:r>
              <a:rPr lang="en-US" sz="2234" spc="-44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3. Generativ Modellər (GPT seriyası):</a:t>
            </a:r>
          </a:p>
          <a:p>
            <a:pPr algn="just" marL="964647" indent="-321549" lvl="2">
              <a:lnSpc>
                <a:spcPts val="3440"/>
              </a:lnSpc>
              <a:buFont typeface="Arial"/>
              <a:buChar char="⚬"/>
            </a:pPr>
            <a:r>
              <a:rPr lang="en-US" sz="2234" spc="-44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Üs</a:t>
            </a:r>
            <a:r>
              <a:rPr lang="en-US" sz="2234" spc="-44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tünlüyü: Yaradıcı cavablar verir.</a:t>
            </a:r>
          </a:p>
          <a:p>
            <a:pPr algn="just" marL="964647" indent="-321549" lvl="2">
              <a:lnSpc>
                <a:spcPts val="3440"/>
              </a:lnSpc>
              <a:buFont typeface="Arial"/>
              <a:buChar char="⚬"/>
            </a:pPr>
            <a:r>
              <a:rPr lang="en-US" sz="2234" spc="-44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Riski: Müştəri xidmətlərində "halüsinasiya" (yanlış məlumat uydurma) riski yüksəkdir. Biznes üçün konkret və dəqiq cavablar (bizim seçdiyimiz BERT yanaşması) daha təhlükəsizdir.</a:t>
            </a:r>
          </a:p>
          <a:p>
            <a:pPr algn="just">
              <a:lnSpc>
                <a:spcPts val="3440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E8E7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52636" y="1439605"/>
            <a:ext cx="16466543" cy="809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14"/>
              </a:lnSpc>
            </a:pPr>
            <a:r>
              <a:rPr lang="en-US" sz="6200" spc="-179" b="true">
                <a:solidFill>
                  <a:srgbClr val="1E1E1E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Nəticə və Gələcək Perspektivlər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28730" y="2935174"/>
            <a:ext cx="16219088" cy="5617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40"/>
              </a:lnSpc>
            </a:pPr>
          </a:p>
          <a:p>
            <a:pPr algn="just" marL="482324" indent="-241162" lvl="1">
              <a:lnSpc>
                <a:spcPts val="3440"/>
              </a:lnSpc>
              <a:buFont typeface="Arial"/>
              <a:buChar char="•"/>
            </a:pPr>
            <a:r>
              <a:rPr lang="en-US" sz="2234" spc="-44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Əl</a:t>
            </a:r>
            <a:r>
              <a:rPr lang="en-US" sz="2234" spc="-44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də Olunan Nəticələr:</a:t>
            </a:r>
          </a:p>
          <a:p>
            <a:pPr algn="just" marL="964647" indent="-321549" lvl="2">
              <a:lnSpc>
                <a:spcPts val="3440"/>
              </a:lnSpc>
              <a:buFont typeface="Arial"/>
              <a:buChar char="⚬"/>
            </a:pPr>
            <a:r>
              <a:rPr lang="en-US" sz="2234" spc="-44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Mü</a:t>
            </a:r>
            <a:r>
              <a:rPr lang="en-US" sz="2234" spc="-44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ştəri niyyətlərini (intents) yüksək dəqiqliklə tanıyan AI modeli hazırlanmışdır.</a:t>
            </a:r>
          </a:p>
          <a:p>
            <a:pPr algn="just" marL="964647" indent="-321549" lvl="2">
              <a:lnSpc>
                <a:spcPts val="3440"/>
              </a:lnSpc>
              <a:buFont typeface="Arial"/>
              <a:buChar char="⚬"/>
            </a:pPr>
            <a:r>
              <a:rPr lang="en-US" sz="2234" spc="-44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"Early Stopping" mexanizmi sayəsində model əzbərləmədən (overfitting olmadan) ən yaxşı versiyada yadda saxlanılır.</a:t>
            </a:r>
          </a:p>
          <a:p>
            <a:pPr algn="just" marL="964647" indent="-321549" lvl="2">
              <a:lnSpc>
                <a:spcPts val="3440"/>
              </a:lnSpc>
              <a:buFont typeface="Arial"/>
              <a:buChar char="⚬"/>
            </a:pPr>
            <a:r>
              <a:rPr lang="en-US" sz="2234" spc="-44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Streamlit vasitəsilə istifadəçi dostu</a:t>
            </a:r>
            <a:r>
              <a:rPr lang="en-US" sz="2234" spc="-44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 i</a:t>
            </a:r>
            <a:r>
              <a:rPr lang="en-US" sz="2234" spc="-44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nterfeys (UI)</a:t>
            </a:r>
            <a:r>
              <a:rPr lang="en-US" sz="2234" spc="-44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 t</a:t>
            </a:r>
            <a:r>
              <a:rPr lang="en-US" sz="2234" spc="-44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əqdim edilmişdir.</a:t>
            </a:r>
          </a:p>
          <a:p>
            <a:pPr algn="just" marL="482324" indent="-241162" lvl="1">
              <a:lnSpc>
                <a:spcPts val="3440"/>
              </a:lnSpc>
              <a:buFont typeface="Arial"/>
              <a:buChar char="•"/>
            </a:pPr>
            <a:r>
              <a:rPr lang="en-US" sz="2234" spc="-44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Sis</a:t>
            </a:r>
            <a:r>
              <a:rPr lang="en-US" sz="2234" spc="-44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temin Üstünlükləri:</a:t>
            </a:r>
          </a:p>
          <a:p>
            <a:pPr algn="just" marL="964647" indent="-321549" lvl="2">
              <a:lnSpc>
                <a:spcPts val="3440"/>
              </a:lnSpc>
              <a:buFont typeface="Arial"/>
              <a:buChar char="⚬"/>
            </a:pPr>
            <a:r>
              <a:rPr lang="en-US" sz="2234" spc="-44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Hibrid Yanaşma: Açar söz (Keyword) və Dərin Öyrənmə (Deep Learning) metodlarının birləşməsi.</a:t>
            </a:r>
          </a:p>
          <a:p>
            <a:pPr algn="just" marL="964647" indent="-321549" lvl="2">
              <a:lnSpc>
                <a:spcPts val="3440"/>
              </a:lnSpc>
              <a:buFont typeface="Arial"/>
              <a:buChar char="⚬"/>
            </a:pPr>
            <a:r>
              <a:rPr lang="en-US" sz="2234" spc="-44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Sü</a:t>
            </a:r>
            <a:r>
              <a:rPr lang="en-US" sz="2234" spc="-44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rətli cavablandırma və 24/7 əlçatanlıq.</a:t>
            </a:r>
          </a:p>
          <a:p>
            <a:pPr algn="just" marL="482324" indent="-241162" lvl="1">
              <a:lnSpc>
                <a:spcPts val="3440"/>
              </a:lnSpc>
              <a:buFont typeface="Arial"/>
              <a:buChar char="•"/>
            </a:pPr>
            <a:r>
              <a:rPr lang="en-US" sz="2234" spc="-44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Gələcək İnkişaf:</a:t>
            </a:r>
          </a:p>
          <a:p>
            <a:pPr algn="just" marL="964647" indent="-321549" lvl="2">
              <a:lnSpc>
                <a:spcPts val="3440"/>
              </a:lnSpc>
              <a:buFont typeface="Arial"/>
              <a:buChar char="⚬"/>
            </a:pPr>
            <a:r>
              <a:rPr lang="en-US" sz="2234" spc="-44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Səsli köməkçi funksiyasının (Speech-to-Text) əlavə edilməsi.</a:t>
            </a:r>
          </a:p>
          <a:p>
            <a:pPr algn="just" marL="964647" indent="-321549" lvl="2">
              <a:lnSpc>
                <a:spcPts val="3440"/>
              </a:lnSpc>
              <a:buFont typeface="Arial"/>
              <a:buChar char="⚬"/>
            </a:pPr>
            <a:r>
              <a:rPr lang="en-US" sz="2234" spc="-44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CRM sistemləri ilə real inteqrasiya.</a:t>
            </a:r>
          </a:p>
          <a:p>
            <a:pPr algn="just">
              <a:lnSpc>
                <a:spcPts val="3440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E8E7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4057288"/>
            <a:ext cx="16230600" cy="3239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609"/>
              </a:lnSpc>
            </a:pPr>
            <a:r>
              <a:rPr lang="en-US" b="true" sz="28262" spc="-2826">
                <a:solidFill>
                  <a:srgbClr val="1E1E1E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DAG8KXcwTM8</dc:identifier>
  <dcterms:modified xsi:type="dcterms:W3CDTF">2011-08-01T06:04:30Z</dcterms:modified>
  <cp:revision>1</cp:revision>
  <dc:title>AI Chatbot</dc:title>
</cp:coreProperties>
</file>